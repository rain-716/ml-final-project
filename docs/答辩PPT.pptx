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92024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AI心理问诊对话系统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749039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BD5E1"/>
                </a:solidFill>
              </a:defRPr>
            </a:pPr>
            <a:r>
              <a:t>机器学习多分类 + 检索式共情回应 + Gradio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1. 选题与问题定义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场景：用户输入心理困扰，系统识别支持类别并返回安全回应</a:t>
            </a:r>
          </a:p>
          <a:p>
            <a:pPr>
              <a:spcAft>
                <a:spcPts val="1000"/>
              </a:spcAft>
              <a:defRPr sz="2100"/>
            </a:pPr>
            <a:r>
              <a:t>机器学习任务：文本多分类；扩展任务：相似问答检索</a:t>
            </a:r>
          </a:p>
          <a:p>
            <a:pPr>
              <a:spcAft>
                <a:spcPts val="1000"/>
              </a:spcAft>
              <a:defRPr sz="2100"/>
            </a:pPr>
            <a:r>
              <a:t>实际意义：辅助情绪表达识别、心理健康科普、课堂可演示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2. 数据集与开源参考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成熟数据集：EmpatheticDialogues，25k情绪情境对话</a:t>
            </a:r>
          </a:p>
          <a:p>
            <a:pPr>
              <a:spcAft>
                <a:spcPts val="1000"/>
              </a:spcAft>
              <a:defRPr sz="2100"/>
            </a:pPr>
            <a:r>
              <a:t>补充参考：Kaggle心理健康咨询问答、GitHub mental-health-chatbot项目</a:t>
            </a:r>
          </a:p>
          <a:p>
            <a:pPr>
              <a:spcAft>
                <a:spcPts val="1000"/>
              </a:spcAft>
              <a:defRPr sz="2100"/>
            </a:pPr>
            <a:r>
              <a:t>压缩包内含离线样本；联网后可自动下载正式数据集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3. 数据处理流程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缺失值删除、重复文本去重</a:t>
            </a:r>
          </a:p>
          <a:p>
            <a:pPr>
              <a:spcAft>
                <a:spcPts val="1000"/>
              </a:spcAft>
              <a:defRPr sz="2100"/>
            </a:pPr>
            <a:r>
              <a:t>文本清洗：URL/特殊符号清理、小写化</a:t>
            </a:r>
          </a:p>
          <a:p>
            <a:pPr>
              <a:spcAft>
                <a:spcPts val="1000"/>
              </a:spcAft>
              <a:defRPr sz="2100"/>
            </a:pPr>
            <a:r>
              <a:t>TF-IDF向量化；LabelEncoder标签编码</a:t>
            </a:r>
          </a:p>
          <a:p>
            <a:pPr>
              <a:spcAft>
                <a:spcPts val="1000"/>
              </a:spcAft>
              <a:defRPr sz="2100"/>
            </a:pPr>
            <a:r>
              <a:t>危机关键词规则优先，保障演示安全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4. 模型设计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基准：DummyClassifier</a:t>
            </a:r>
          </a:p>
          <a:p>
            <a:pPr>
              <a:spcAft>
                <a:spcPts val="1000"/>
              </a:spcAft>
              <a:defRPr sz="2100"/>
            </a:pPr>
            <a:r>
              <a:t>对比模型：Logistic Regression、Linear SVM、Random Forest</a:t>
            </a:r>
          </a:p>
          <a:p>
            <a:pPr>
              <a:spcAft>
                <a:spcPts val="1000"/>
              </a:spcAft>
              <a:defRPr sz="2100"/>
            </a:pPr>
            <a:r>
              <a:t>超参数：GridSearchCV搜索TF-IDF特征、ngram、C</a:t>
            </a:r>
          </a:p>
          <a:p>
            <a:pPr>
              <a:spcAft>
                <a:spcPts val="1000"/>
              </a:spcAft>
              <a:defRPr sz="2100"/>
            </a:pPr>
            <a:r>
              <a:t>选择原因：适合小中规模文本分类，训练快、可解释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5. 评估指标与结果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指标：Accuracy、Precision、Recall、F1-macro</a:t>
            </a:r>
          </a:p>
          <a:p>
            <a:pPr>
              <a:spcAft>
                <a:spcPts val="1000"/>
              </a:spcAft>
              <a:defRPr sz="2100"/>
            </a:pPr>
            <a:r>
              <a:t>F1-macro用于关注小类别表现，避免只看准确率</a:t>
            </a:r>
          </a:p>
          <a:p>
            <a:pPr>
              <a:spcAft>
                <a:spcPts val="1000"/>
              </a:spcAft>
              <a:defRPr sz="2100"/>
            </a:pPr>
            <a:r>
              <a:t>离线样本仅验证流程；正式展示建议使用公开数据集重训</a:t>
            </a:r>
          </a:p>
        </p:txBody>
      </p:sp>
      <p:pic>
        <p:nvPicPr>
          <p:cNvPr id="4" name="Picture 3" descr="random_fores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029200" cy="4400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6. 可视化与可解释性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混淆矩阵展示类别混淆</a:t>
            </a:r>
          </a:p>
          <a:p>
            <a:pPr>
              <a:spcAft>
                <a:spcPts val="1000"/>
              </a:spcAft>
              <a:defRPr sz="2100"/>
            </a:pPr>
            <a:r>
              <a:t>学习曲线分析样本量与泛化差距</a:t>
            </a:r>
          </a:p>
          <a:p>
            <a:pPr>
              <a:spcAft>
                <a:spcPts val="1000"/>
              </a:spcAft>
              <a:defRPr sz="2100"/>
            </a:pPr>
            <a:r>
              <a:t>Logistic Regression输出高权重关键词，便于解释</a:t>
            </a:r>
          </a:p>
        </p:txBody>
      </p:sp>
      <p:pic>
        <p:nvPicPr>
          <p:cNvPr id="4" name="Picture 3" descr="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029200" cy="3592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7. Demo演示流程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运行：python src/train.py --data_source sample</a:t>
            </a:r>
          </a:p>
          <a:p>
            <a:pPr>
              <a:spcAft>
                <a:spcPts val="1000"/>
              </a:spcAft>
              <a:defRPr sz="2100"/>
            </a:pPr>
            <a:r>
              <a:t>运行：python src/app.py</a:t>
            </a:r>
          </a:p>
          <a:p>
            <a:pPr>
              <a:spcAft>
                <a:spcPts val="1000"/>
              </a:spcAft>
              <a:defRPr sz="2100"/>
            </a:pPr>
            <a:r>
              <a:t>输入：I feel anxious and cannot sleep before exams</a:t>
            </a:r>
          </a:p>
          <a:p>
            <a:pPr>
              <a:spcAft>
                <a:spcPts val="1000"/>
              </a:spcAft>
              <a:defRPr sz="2100"/>
            </a:pPr>
            <a:r>
              <a:t>输出：识别类别 + 安全共情回应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8. 局限与改进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局限：样本偏小、公开数据有文化偏差、不能替代专业咨询</a:t>
            </a:r>
          </a:p>
          <a:p>
            <a:pPr>
              <a:spcAft>
                <a:spcPts val="1000"/>
              </a:spcAft>
              <a:defRPr sz="2100"/>
            </a:pPr>
            <a:r>
              <a:t>改进：接入更大中文数据、多轮上下文、人工安全评测、云端部署</a:t>
            </a:r>
          </a:p>
          <a:p>
            <a:pPr>
              <a:spcAft>
                <a:spcPts val="1000"/>
              </a:spcAft>
              <a:defRPr sz="2100"/>
            </a:pPr>
            <a:r>
              <a:t>答辩重点：流程完整、指标合理、可交互、强调安全边界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